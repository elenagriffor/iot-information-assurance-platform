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5"/>
    <p:restoredTop sz="94701"/>
  </p:normalViewPr>
  <p:slideViewPr>
    <p:cSldViewPr snapToGrid="0">
      <p:cViewPr varScale="1">
        <p:scale>
          <a:sx n="187" d="100"/>
          <a:sy n="187" d="100"/>
        </p:scale>
        <p:origin x="87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A09A7-0256-AC48-B8D4-106DB7410802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AFBDF-F58E-4C4E-89D4-20EB70D3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16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AFBDF-F58E-4C4E-89D4-20EB70D36C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2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4B30-0FF5-947C-F02B-20B3F098D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DA5B8-1F07-B585-46D2-C853E212C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D1398-1DD0-3858-761C-E404AC76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2EC56-51DD-389F-C7D5-741D0DE1C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880F3-566E-45A0-C298-9F259FDC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07AE-8892-5880-0E71-AAF4FB274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00A7-B9C1-A497-4645-8F5956145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90120-1554-2B23-9D84-7302F448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B5624-1D88-7C07-1EA3-37B6437E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9E93B-D07B-ED99-2CFF-7AF7F786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3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9649-4C4A-5CB2-F606-990F75C0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A8670-3E5C-8B7F-824B-E00E2AD68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E42BD-EE2E-6FE8-25A9-18EB3469C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2F2EA-D699-3A50-B436-CEB89135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2774B-C41E-EA54-9BA3-7B1E8624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4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912A3-A1C6-C169-11C2-7CF57DD5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2CAAB-9652-1E78-0EC7-C5B190191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9FDB1-131D-FCBF-8D39-37008BF9A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6C4BE-167B-7C9B-92A0-87DDF21B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AF780-0530-C676-BD02-4F83FB3C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9AE9C-00BA-C6B8-AD21-13E11FAE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85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583F-80CD-E27A-EAB5-4117B7A7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C33F8-DD2F-E0BA-14AC-27E6D62D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9C738-F3EF-420B-34F2-0A9D9A68B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0CC51-D1AA-A398-979B-0D5330CFD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303B3F-A7B1-169A-DED3-193BAAEFF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EBD04D-94F4-B524-0DBD-40CB75207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EADF80-DB02-5553-D7C9-818523F4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A7747-2685-0255-6ABE-AEA24058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0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538C-95A2-2753-1A44-EACCCF6F1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911BAB-DC7C-C764-F657-B38B5F92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55706-B249-F04C-8BC1-4F69F4BFF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E8F02-8CE3-83AC-49A6-665194B6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3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90AD3-FD9C-8326-612E-16CE9AC3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D44E5-5886-0B62-2B8C-2B86AF2AE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61280-A50C-055E-6AD3-09DD0086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1B8E-8996-4CEF-3FD6-99F5F58DC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0EDF-F983-FAC9-FB88-207BA511A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16391-52DC-D7C4-B112-1C9ABD2D9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7882F-11C1-3946-988F-1EF5A8C3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B4DD7-FAF3-388A-BE77-819C6E553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9D06C-03BC-2192-B3D9-D0BAC8CE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1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8C8E2-0277-E7C1-47EE-E0A6E629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4CCE58-9A55-5B5D-F9AD-A87134A51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05088-F166-644B-7F14-D978478A0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197E7-F481-271B-2578-F2DD9958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40C4E-3174-7B38-316F-0BDB26CD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63D47-6867-893F-C5FA-5166E828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7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CA6B4-378C-47EE-3544-6305D95DC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4733D-81B2-C4A5-2E93-FBA811BB8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1FB21-1C53-5DFE-8F23-06AF8E4B0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1A254-A4D3-C065-F9B4-1B24DA448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87E3E-BC97-D26F-0EF5-BA6884E5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9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115DF-B495-EF3F-7010-A35AB7172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0529F-8CE4-AB27-E46D-C811A8F5C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451CF-F880-DA21-9583-58F98E18E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7D6CE-6613-B0D5-7973-EF7BB9C51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2C1E9-C40B-44E8-8442-27B18E82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CFECB7-90D5-F9BB-FC51-8E5E7AEE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408BD-63B6-30B2-D94E-C7E171BFF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5820F-B2C4-96E6-742D-37B008977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C2D18-2ABA-FF49-95A6-5A24050B83CE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1509-5C88-F319-0472-DA079F4A3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A12C5-A74A-5E50-6A51-C6DEB8AF1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79CCBD-1C48-1642-87DE-B3CF4DFA6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8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EEACFE-FEA9-DEB9-0F10-7E5C71EE5442}"/>
              </a:ext>
            </a:extLst>
          </p:cNvPr>
          <p:cNvSpPr/>
          <p:nvPr/>
        </p:nvSpPr>
        <p:spPr>
          <a:xfrm>
            <a:off x="798394" y="2456596"/>
            <a:ext cx="2033516" cy="1337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CBA45-FF76-63B8-9D23-57C3BF2D3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37" y="286603"/>
            <a:ext cx="1288829" cy="19516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0A4266-F3EA-704B-E2EC-D92A1987DE42}"/>
              </a:ext>
            </a:extLst>
          </p:cNvPr>
          <p:cNvSpPr/>
          <p:nvPr/>
        </p:nvSpPr>
        <p:spPr>
          <a:xfrm>
            <a:off x="4046561" y="1535373"/>
            <a:ext cx="5854890" cy="4148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en-US" sz="1100" dirty="0"/>
              <a:t>Parse </a:t>
            </a:r>
          </a:p>
          <a:p>
            <a:pPr marL="285750" indent="-285750">
              <a:buFontTx/>
              <a:buChar char="-"/>
            </a:pPr>
            <a:r>
              <a:rPr lang="en-US" sz="1100" dirty="0"/>
              <a:t>Create a Workflow ()</a:t>
            </a:r>
          </a:p>
          <a:p>
            <a:endParaRPr lang="en-US" sz="1100" dirty="0"/>
          </a:p>
          <a:p>
            <a:pPr marL="742950" lvl="1" indent="-285750">
              <a:buFont typeface="Symbol" pitchFamily="2" charset="2"/>
              <a:buChar char="Þ"/>
            </a:pPr>
            <a:r>
              <a:rPr lang="en-US" sz="1100" dirty="0"/>
              <a:t>[A] Grab a </a:t>
            </a:r>
            <a:r>
              <a:rPr 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characteristic</a:t>
            </a:r>
            <a:r>
              <a:rPr lang="en-US" sz="1100" dirty="0"/>
              <a:t> (confidentiality, human trust ..)</a:t>
            </a:r>
          </a:p>
          <a:p>
            <a:pPr marL="742950" lvl="1" indent="-285750">
              <a:buFont typeface="Symbol" pitchFamily="2" charset="2"/>
              <a:buChar char="Þ"/>
            </a:pPr>
            <a:r>
              <a:rPr lang="en-US" sz="1100" dirty="0"/>
              <a:t>[B] Grab </a:t>
            </a:r>
            <a:r>
              <a:rPr lang="en-US" sz="1100" dirty="0">
                <a:solidFill>
                  <a:srgbClr val="FF0000"/>
                </a:solidFill>
                <a:highlight>
                  <a:srgbClr val="FFFF00"/>
                </a:highlight>
              </a:rPr>
              <a:t>information item </a:t>
            </a:r>
            <a:r>
              <a:rPr lang="en-US" sz="1100" dirty="0"/>
              <a:t>( breathing pattern – lung pressure, credentials )</a:t>
            </a:r>
          </a:p>
          <a:p>
            <a:pPr marL="742950" lvl="1" indent="-285750">
              <a:buFont typeface="Symbol" pitchFamily="2" charset="2"/>
              <a:buChar char="Þ"/>
            </a:pPr>
            <a:r>
              <a:rPr lang="en-US" sz="1100" dirty="0"/>
              <a:t>[C] Chose </a:t>
            </a:r>
            <a:r>
              <a:rPr lang="en-US" sz="1100" dirty="0">
                <a:solidFill>
                  <a:schemeClr val="tx1"/>
                </a:solidFill>
                <a:highlight>
                  <a:srgbClr val="FFFF00"/>
                </a:highlight>
              </a:rPr>
              <a:t>information state </a:t>
            </a:r>
            <a:r>
              <a:rPr lang="en-US" sz="1100" dirty="0"/>
              <a:t>for one of these information items ( for example “Transmission is the information state of “breathing pressure” information item, captured while being transmitted from sensor to gateway ” )</a:t>
            </a:r>
          </a:p>
          <a:p>
            <a:pPr marL="742950" lvl="1" indent="-285750">
              <a:buFont typeface="Symbol" pitchFamily="2" charset="2"/>
              <a:buChar char="Þ"/>
            </a:pPr>
            <a:r>
              <a:rPr lang="en-US" sz="1100" dirty="0"/>
              <a:t>[D] Write a requirement that protects that information item in the chosen information state relative to the chosen characteristic.</a:t>
            </a:r>
          </a:p>
          <a:p>
            <a:pPr marL="742950" lvl="1" indent="-285750">
              <a:buFont typeface="Symbol" pitchFamily="2" charset="2"/>
              <a:buChar char="Þ"/>
            </a:pPr>
            <a:r>
              <a:rPr lang="en-US" sz="1100" dirty="0"/>
              <a:t>[E] Generate a report.</a:t>
            </a:r>
          </a:p>
          <a:p>
            <a:pPr lvl="1"/>
            <a:endParaRPr lang="en-US" sz="1100" dirty="0"/>
          </a:p>
          <a:p>
            <a:pPr lvl="1"/>
            <a:endParaRPr lang="en-US" sz="1100" dirty="0"/>
          </a:p>
          <a:p>
            <a:pPr lvl="1"/>
            <a:endParaRPr lang="en-US" sz="1100" dirty="0"/>
          </a:p>
          <a:p>
            <a:pPr lvl="1"/>
            <a:r>
              <a:rPr lang="en-US" sz="1100" dirty="0"/>
              <a:t>[A] choosing the confidentiality characteristic for [B] the information item (breathing pattern) in the information state [C] storage and write a </a:t>
            </a:r>
          </a:p>
          <a:p>
            <a:pPr lvl="1"/>
            <a:r>
              <a:rPr lang="en-US" sz="1100" dirty="0"/>
              <a:t>[D]  </a:t>
            </a:r>
            <a:r>
              <a:rPr lang="en-US" sz="1100" u="sng" dirty="0"/>
              <a:t>requirement</a:t>
            </a:r>
            <a:r>
              <a:rPr lang="en-US" sz="1100" dirty="0"/>
              <a:t> for it to be </a:t>
            </a:r>
            <a:r>
              <a:rPr lang="en-US" sz="1100" u="sng" dirty="0"/>
              <a:t>encrypted</a:t>
            </a:r>
            <a:r>
              <a:rPr lang="en-US" sz="1100" dirty="0"/>
              <a:t> in 128 bit encryption  [now it’s completely specified] and generate a [E] report that has one record.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F6CA3F52-A326-DFF8-8B5E-092EB4E87D2D}"/>
              </a:ext>
            </a:extLst>
          </p:cNvPr>
          <p:cNvSpPr/>
          <p:nvPr/>
        </p:nvSpPr>
        <p:spPr>
          <a:xfrm>
            <a:off x="2995684" y="2845558"/>
            <a:ext cx="900752" cy="5834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55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162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HALBA</dc:creator>
  <cp:lastModifiedBy>Khalid HALBA</cp:lastModifiedBy>
  <cp:revision>19</cp:revision>
  <dcterms:created xsi:type="dcterms:W3CDTF">2025-07-14T15:26:02Z</dcterms:created>
  <dcterms:modified xsi:type="dcterms:W3CDTF">2025-07-14T16:30:24Z</dcterms:modified>
</cp:coreProperties>
</file>